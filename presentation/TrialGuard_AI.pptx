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462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drive.google.com/file/d/11EevCuju7d8nsmjDWvEXVL2--p_WmRd4/view?usp=drive_link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10362895" y="548640"/>
            <a:ext cx="1188720" cy="1188720"/>
          </a:xfrm>
          <a:prstGeom prst="rect">
            <a:avLst/>
          </a:prstGeom>
          <a:ln w="19050">
            <a:solidFill>
              <a:srgbClr val="6F79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920000">
            <a:off x="10695737" y="881482"/>
            <a:ext cx="594360" cy="594360"/>
          </a:xfrm>
          <a:prstGeom prst="rect">
            <a:avLst/>
          </a:prstGeom>
          <a:ln w="12700">
            <a:solidFill>
              <a:srgbClr val="6F79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600000">
            <a:off x="10591495" y="5349240"/>
            <a:ext cx="914400" cy="914400"/>
          </a:xfrm>
          <a:prstGeom prst="rect">
            <a:avLst/>
          </a:prstGeom>
          <a:ln w="19050">
            <a:solidFill>
              <a:srgbClr val="0097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600000">
            <a:off x="10847527" y="5605272"/>
            <a:ext cx="457200" cy="457200"/>
          </a:xfrm>
          <a:prstGeom prst="rect">
            <a:avLst/>
          </a:prstGeom>
          <a:ln w="12700">
            <a:solidFill>
              <a:srgbClr val="0097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TRACK  ·  IBM BOBATHON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TrialGuard AI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F7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 Risk Monitor and Protocol Deviation Detector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3611880"/>
            <a:ext cx="2926080" cy="0"/>
          </a:xfrm>
          <a:prstGeom prst="line">
            <a:avLst/>
          </a:prstGeom>
          <a:noFill/>
          <a:ln w="1905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79476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"Don’t wait for the audit. Detect deviations early, predict site risk, explain the cause, generate the action plan."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Bob The Builder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0911535" y="365760"/>
            <a:ext cx="731520" cy="731520"/>
          </a:xfrm>
          <a:prstGeom prst="rect">
            <a:avLst/>
          </a:prstGeom>
          <a:ln w="1905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11116361" y="570586"/>
            <a:ext cx="365760" cy="365760"/>
          </a:xfrm>
          <a:prstGeom prst="rect">
            <a:avLst/>
          </a:prstGeom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6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Audits Catch It Too Late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33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C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deviations: missed visits, dosing errors, prohibited medications, eligibility violations, late data entry are mostly caught through periodic audits and manual monitoring visits, well after they’ve already affected multiple patients.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C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records, protocol rules, and site history typically sit in separate systems. There’s no single place that explains which site is quietly becoming a problem before the next inspection.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79476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33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FEELS 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050044"/>
            <a:ext cx="6035040" cy="1234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1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/ clinical trial risk managers overseeing multiple sites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1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coordinators who need visibility into their own compliance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1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Auditors and regulatory affairs teams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1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 and CROs running multi-site trials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40880" y="155448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25400" dir="5400000" algn="bl" rotWithShape="0">
              <a:srgbClr val="1F164D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69480" y="1664208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433AB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119 deviations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7269480" y="23317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per Phase III protocol. Touching ~1/3 of enrolled patients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40880" y="292608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25400" dir="5400000" algn="bl" rotWithShape="0">
              <a:srgbClr val="1F164D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69480" y="3035808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099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40%+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7269480" y="37033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patients affected in some oncology trials, the highest of any therapeutic area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40880" y="429768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25400" dir="5400000" algn="bl" rotWithShape="0">
              <a:srgbClr val="1F164D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69480" y="4407408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97A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30%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7269480" y="50749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FDA inspection warning letters cite failure to follow the protocol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40880" y="5669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often catch this before sponsors do internally.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10911535" y="365760"/>
            <a:ext cx="731520" cy="731520"/>
          </a:xfrm>
          <a:prstGeom prst="rect">
            <a:avLst/>
          </a:prstGeom>
          <a:ln w="19050">
            <a:solidFill>
              <a:srgbClr val="6F79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480000">
            <a:off x="11116361" y="570586"/>
            <a:ext cx="365760" cy="365760"/>
          </a:xfrm>
          <a:prstGeom prst="rect">
            <a:avLst/>
          </a:prstGeom>
          <a:ln w="12700">
            <a:solidFill>
              <a:srgbClr val="6F79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6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Pipeline, End to End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C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TrialGuard AI compares live site data against protocol rules, automatically detects and classifies deviations, scores every site’s current and predicted risk, and lets a risk manager ask IBM Bob “why” and get an evidence-backed answer plus a ready CAPA.</a:t>
            </a:r>
            <a:endParaRPr lang="en-US" sz="140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BBF5985-4CF8-34B9-4CB1-AD2166CB1564}"/>
              </a:ext>
            </a:extLst>
          </p:cNvPr>
          <p:cNvGrpSpPr/>
          <p:nvPr/>
        </p:nvGrpSpPr>
        <p:grpSpPr>
          <a:xfrm>
            <a:off x="548640" y="2514600"/>
            <a:ext cx="5344160" cy="3083560"/>
            <a:chOff x="548640" y="2514600"/>
            <a:chExt cx="10277856" cy="2606040"/>
          </a:xfrm>
        </p:grpSpPr>
        <p:sp>
          <p:nvSpPr>
            <p:cNvPr id="8" name="Shape 6"/>
            <p:cNvSpPr/>
            <p:nvPr/>
          </p:nvSpPr>
          <p:spPr>
            <a:xfrm>
              <a:off x="548640" y="2514600"/>
              <a:ext cx="1828802" cy="960120"/>
            </a:xfrm>
            <a:prstGeom prst="roundRect">
              <a:avLst>
                <a:gd name="adj" fmla="val 6667"/>
              </a:avLst>
            </a:prstGeom>
            <a:solidFill>
              <a:srgbClr val="433ABA"/>
            </a:solidFill>
            <a:ln w="12700">
              <a:solidFill>
                <a:srgbClr val="433ABA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603504" y="2514600"/>
              <a:ext cx="182880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Protocol</a:t>
              </a:r>
              <a:endParaRPr lang="en-US" sz="10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2487168" y="2514600"/>
              <a:ext cx="146304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6B6B8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16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2779772" y="2514600"/>
              <a:ext cx="1645925" cy="96012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2700">
              <a:solidFill>
                <a:srgbClr val="C1C1C1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2688336" y="2514600"/>
              <a:ext cx="182880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F16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Patient /</a:t>
              </a:r>
              <a:endParaRPr lang="en-US" sz="1050" dirty="0"/>
            </a:p>
            <a:p>
              <a:pPr marL="0" indent="0" algn="ctr">
                <a:buNone/>
              </a:pPr>
              <a:r>
                <a:rPr lang="en-US" sz="1050" dirty="0">
                  <a:solidFill>
                    <a:srgbClr val="1F16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Site Data</a:t>
              </a:r>
              <a:endParaRPr lang="en-US" sz="105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572000" y="2514600"/>
              <a:ext cx="146304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6B6B8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16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864606" y="2514600"/>
              <a:ext cx="1681487" cy="96012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2700">
              <a:solidFill>
                <a:srgbClr val="C1C1C1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4864604" y="2514600"/>
              <a:ext cx="1737361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F16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Protocol</a:t>
              </a:r>
              <a:endParaRPr lang="en-US" sz="1050" dirty="0"/>
            </a:p>
            <a:p>
              <a:pPr marL="0" indent="0" algn="ctr">
                <a:buNone/>
              </a:pPr>
              <a:r>
                <a:rPr lang="en-US" sz="1050" dirty="0">
                  <a:solidFill>
                    <a:srgbClr val="1F16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Comparison</a:t>
              </a:r>
              <a:endParaRPr lang="en-US" sz="10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656832" y="2514600"/>
              <a:ext cx="146304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6B6B8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16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912864" y="2514600"/>
              <a:ext cx="1717864" cy="96012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2700">
              <a:solidFill>
                <a:srgbClr val="C1C1C1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858000" y="2514600"/>
              <a:ext cx="182880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F16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</a:t>
              </a:r>
              <a:endParaRPr lang="en-US" sz="1050" dirty="0"/>
            </a:p>
            <a:p>
              <a:pPr marL="0" indent="0" algn="ctr">
                <a:buNone/>
              </a:pPr>
              <a:r>
                <a:rPr lang="en-US" sz="1050" dirty="0">
                  <a:solidFill>
                    <a:srgbClr val="1F16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Detection</a:t>
              </a:r>
              <a:endParaRPr lang="en-US" sz="10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8741664" y="2514600"/>
              <a:ext cx="146304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6B6B8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16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8997696" y="2514600"/>
              <a:ext cx="1828800" cy="960120"/>
            </a:xfrm>
            <a:prstGeom prst="roundRect">
              <a:avLst>
                <a:gd name="adj" fmla="val 6667"/>
              </a:avLst>
            </a:prstGeom>
            <a:solidFill>
              <a:srgbClr val="433ABA"/>
            </a:solidFill>
            <a:ln w="12700">
              <a:solidFill>
                <a:srgbClr val="433ABA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8942832" y="2514600"/>
              <a:ext cx="182880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Severity</a:t>
              </a:r>
              <a:endParaRPr lang="en-US" sz="1050" dirty="0"/>
            </a:p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Classification</a:t>
              </a:r>
              <a:endParaRPr lang="en-US" sz="105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548642" y="4160520"/>
              <a:ext cx="1828800" cy="960120"/>
            </a:xfrm>
            <a:prstGeom prst="roundRect">
              <a:avLst>
                <a:gd name="adj" fmla="val 6667"/>
              </a:avLst>
            </a:prstGeom>
            <a:solidFill>
              <a:srgbClr val="433ABA"/>
            </a:solidFill>
            <a:ln w="12700">
              <a:solidFill>
                <a:srgbClr val="433ABA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603504" y="4160520"/>
              <a:ext cx="182880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Site-Level</a:t>
              </a:r>
              <a:endParaRPr lang="en-US" sz="1050" dirty="0"/>
            </a:p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Risk Analysis</a:t>
              </a:r>
              <a:endParaRPr lang="en-US" sz="10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2487168" y="4160520"/>
              <a:ext cx="146304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6B6B8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16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2743199" y="4160520"/>
              <a:ext cx="1710929" cy="96012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2700">
              <a:solidFill>
                <a:srgbClr val="C1C1C1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2688336" y="4160520"/>
              <a:ext cx="1765792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F16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Predictive</a:t>
              </a:r>
              <a:endParaRPr lang="en-US" sz="1050" dirty="0"/>
            </a:p>
            <a:p>
              <a:pPr marL="0" indent="0" algn="ctr">
                <a:buNone/>
              </a:pPr>
              <a:r>
                <a:rPr lang="en-US" sz="1050" dirty="0">
                  <a:solidFill>
                    <a:srgbClr val="1F16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Risk</a:t>
              </a:r>
              <a:endParaRPr lang="en-US" sz="105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572000" y="4160520"/>
              <a:ext cx="146303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6B6B8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16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4828031" y="4160520"/>
              <a:ext cx="1718062" cy="96012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2700">
              <a:solidFill>
                <a:srgbClr val="C1C1C1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4773168" y="4160520"/>
              <a:ext cx="182880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F16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IBM Bob</a:t>
              </a:r>
              <a:endParaRPr lang="en-US" sz="1050" dirty="0"/>
            </a:p>
            <a:p>
              <a:pPr marL="0" indent="0" algn="ctr">
                <a:buNone/>
              </a:pPr>
              <a:r>
                <a:rPr lang="en-US" sz="1050" dirty="0">
                  <a:solidFill>
                    <a:srgbClr val="1F16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Investigation</a:t>
              </a:r>
              <a:endParaRPr lang="en-US" sz="105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6656832" y="4160520"/>
              <a:ext cx="146304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6B6B8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16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6912864" y="4160520"/>
              <a:ext cx="1717864" cy="96012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2700">
              <a:solidFill>
                <a:srgbClr val="C1C1C1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6751256" y="4160520"/>
              <a:ext cx="2055327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F16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Recommended</a:t>
              </a:r>
              <a:endParaRPr lang="en-US" sz="1050" dirty="0"/>
            </a:p>
            <a:p>
              <a:pPr marL="0" indent="0" algn="ctr">
                <a:buNone/>
              </a:pPr>
              <a:r>
                <a:rPr lang="en-US" sz="1050" dirty="0">
                  <a:solidFill>
                    <a:srgbClr val="1F16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Actions</a:t>
              </a:r>
              <a:endParaRPr lang="en-US" sz="105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8741664" y="4160520"/>
              <a:ext cx="146304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6B6B8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16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8997696" y="4160520"/>
              <a:ext cx="1828800" cy="960120"/>
            </a:xfrm>
            <a:prstGeom prst="roundRect">
              <a:avLst>
                <a:gd name="adj" fmla="val 6667"/>
              </a:avLst>
            </a:prstGeom>
            <a:solidFill>
              <a:srgbClr val="0097A7"/>
            </a:solidFill>
            <a:ln w="12700">
              <a:solidFill>
                <a:srgbClr val="433ABA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8942832" y="4160520"/>
              <a:ext cx="182880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CAPA</a:t>
              </a:r>
              <a:endParaRPr lang="en-US" sz="1050" dirty="0"/>
            </a:p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Report</a:t>
              </a:r>
              <a:endParaRPr lang="en-US" sz="105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9857232" y="3474720"/>
              <a:ext cx="0" cy="342900"/>
            </a:xfrm>
            <a:prstGeom prst="line">
              <a:avLst/>
            </a:prstGeom>
            <a:noFill/>
            <a:ln w="19050">
              <a:solidFill>
                <a:srgbClr val="6B6B84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1517904" y="3817620"/>
              <a:ext cx="8339328" cy="0"/>
            </a:xfrm>
            <a:prstGeom prst="line">
              <a:avLst/>
            </a:prstGeom>
            <a:noFill/>
            <a:ln w="19050">
              <a:solidFill>
                <a:srgbClr val="6B6B84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>
              <a:off x="1517904" y="3817620"/>
              <a:ext cx="0" cy="342900"/>
            </a:xfrm>
            <a:prstGeom prst="line">
              <a:avLst/>
            </a:prstGeom>
            <a:noFill/>
            <a:ln w="19050">
              <a:solidFill>
                <a:srgbClr val="6B6B84"/>
              </a:solidFill>
              <a:prstDash val="solid"/>
              <a:tailEnd type="triangle"/>
            </a:ln>
          </p:spPr>
        </p:sp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D6DE2765-5D1A-096A-4CFF-BDB7EBDE0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055" y="2688802"/>
            <a:ext cx="5400000" cy="27351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10911535" y="365760"/>
            <a:ext cx="731520" cy="731520"/>
          </a:xfrm>
          <a:prstGeom prst="rect">
            <a:avLst/>
          </a:prstGeom>
          <a:ln w="1905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400000">
            <a:off x="11116361" y="570586"/>
            <a:ext cx="365760" cy="365760"/>
          </a:xfrm>
          <a:prstGeom prst="rect">
            <a:avLst/>
          </a:prstGeom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6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5321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777240" y="1773936"/>
            <a:ext cx="128016" cy="128016"/>
          </a:xfrm>
          <a:prstGeom prst="rect">
            <a:avLst/>
          </a:prstGeom>
          <a:solidFill>
            <a:srgbClr val="433ABA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64592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938528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C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app in plain HTML, CSS, and vanilla JavaScript (index.html, styles.css, app.js). No framework. Talks to the backend only over REST and JSON.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55321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777240" y="3282696"/>
            <a:ext cx="128016" cy="128016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15468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447288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C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standard library http.server, split into modular services: engines.py (deviation engine, severity classifier, site risk engine), services.py (CAPA generation), bob_boundary.py (Bob tool contracts), database.py (repository layer).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55321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777240" y="4791456"/>
            <a:ext cx="128016" cy="128016"/>
          </a:xfrm>
          <a:prstGeom prst="rect">
            <a:avLst/>
          </a:prstGeom>
          <a:solidFill>
            <a:srgbClr val="130994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6634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956048"/>
            <a:ext cx="4983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C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via PyMongo for all persistent collections (users, sites, patients, visits, deviations, risk scores, CAPA records, audit events). Falls back to an in-memory repository automatically if MongoDB is unreachable.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55080" y="1554480"/>
            <a:ext cx="55321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6583680" y="1773936"/>
            <a:ext cx="128016" cy="128016"/>
          </a:xfrm>
          <a:prstGeom prst="rect">
            <a:avLst/>
          </a:prstGeom>
          <a:solidFill>
            <a:srgbClr val="433AB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164592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Agent Boundary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1938528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C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MCP-ready tool contracts sit between the app and IBM Bob. Bob calls a tool (e.g. get_site_risk), the tool calls the service, the service queries MongoDB, and a structured JSON result returns for Bob to explain in plain language.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55080" y="3063240"/>
            <a:ext cx="55321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700000">
            <a:off x="6583680" y="3282696"/>
            <a:ext cx="128016" cy="128016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315468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29400" y="3447288"/>
            <a:ext cx="4983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C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role-based access control on every route, PBKDF2 password hashing, session-based authentication, and Bob tool access scoped by the logged-in user’s role.</a:t>
            </a:r>
            <a:endParaRPr lang="en-US" sz="10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F4AD4D1-CB2B-2E74-F432-016A88ABC44E}"/>
              </a:ext>
            </a:extLst>
          </p:cNvPr>
          <p:cNvGrpSpPr/>
          <p:nvPr/>
        </p:nvGrpSpPr>
        <p:grpSpPr>
          <a:xfrm>
            <a:off x="6357823" y="4937760"/>
            <a:ext cx="5010912" cy="457200"/>
            <a:chOff x="6355080" y="5897880"/>
            <a:chExt cx="5010912" cy="457200"/>
          </a:xfrm>
        </p:grpSpPr>
        <p:sp>
          <p:nvSpPr>
            <p:cNvPr id="27" name="Shape 25"/>
            <p:cNvSpPr/>
            <p:nvPr/>
          </p:nvSpPr>
          <p:spPr>
            <a:xfrm>
              <a:off x="6355080" y="5897880"/>
              <a:ext cx="1170432" cy="457200"/>
            </a:xfrm>
            <a:prstGeom prst="roundRect">
              <a:avLst>
                <a:gd name="adj" fmla="val 10000"/>
              </a:avLst>
            </a:prstGeom>
            <a:solidFill>
              <a:srgbClr val="E8E8E8"/>
            </a:solidFill>
            <a:ln w="9525">
              <a:solidFill>
                <a:srgbClr val="C1C1C1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6355080" y="5897880"/>
              <a:ext cx="117043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F16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Browser</a:t>
              </a:r>
              <a:endParaRPr lang="en-US" sz="9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7525512" y="5897880"/>
              <a:ext cx="109728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B6B8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11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7635240" y="5897880"/>
              <a:ext cx="1170432" cy="457200"/>
            </a:xfrm>
            <a:prstGeom prst="roundRect">
              <a:avLst>
                <a:gd name="adj" fmla="val 10000"/>
              </a:avLst>
            </a:prstGeom>
            <a:solidFill>
              <a:srgbClr val="E8E8E8"/>
            </a:solidFill>
            <a:ln w="9525">
              <a:solidFill>
                <a:srgbClr val="C1C1C1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7635240" y="5897880"/>
              <a:ext cx="117043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F16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http.server</a:t>
              </a:r>
              <a:endParaRPr lang="en-US" sz="9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8805672" y="5897880"/>
              <a:ext cx="109728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B6B8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11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8915400" y="5897880"/>
              <a:ext cx="1170432" cy="457200"/>
            </a:xfrm>
            <a:prstGeom prst="roundRect">
              <a:avLst>
                <a:gd name="adj" fmla="val 10000"/>
              </a:avLst>
            </a:prstGeom>
            <a:solidFill>
              <a:srgbClr val="E8E8E8"/>
            </a:solidFill>
            <a:ln w="9525">
              <a:solidFill>
                <a:srgbClr val="C1C1C1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8915400" y="5897880"/>
              <a:ext cx="117043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F16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Engines</a:t>
              </a:r>
              <a:endParaRPr lang="en-US" sz="9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10085832" y="5897880"/>
              <a:ext cx="109728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B6B8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11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10195560" y="5897880"/>
              <a:ext cx="1170432" cy="457200"/>
            </a:xfrm>
            <a:prstGeom prst="roundRect">
              <a:avLst>
                <a:gd name="adj" fmla="val 10000"/>
              </a:avLst>
            </a:prstGeom>
            <a:solidFill>
              <a:srgbClr val="433ABA"/>
            </a:solidFill>
            <a:ln w="9525">
              <a:solidFill>
                <a:srgbClr val="C1C1C1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10195560" y="5897880"/>
              <a:ext cx="117043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MongoDB</a:t>
              </a:r>
              <a:endParaRPr lang="en-US" sz="900" dirty="0"/>
            </a:p>
          </p:txBody>
        </p:sp>
      </p:grpSp>
      <p:sp>
        <p:nvSpPr>
          <p:cNvPr id="38" name="Text 36"/>
          <p:cNvSpPr/>
          <p:nvPr/>
        </p:nvSpPr>
        <p:spPr>
          <a:xfrm>
            <a:off x="6355080" y="6428232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layer ↔ IBM Bob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0911535" y="365760"/>
            <a:ext cx="731520" cy="731520"/>
          </a:xfrm>
          <a:prstGeom prst="rect">
            <a:avLst/>
          </a:prstGeom>
          <a:ln w="19050">
            <a:solidFill>
              <a:srgbClr val="6F79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11116361" y="570586"/>
            <a:ext cx="365760" cy="365760"/>
          </a:xfrm>
          <a:prstGeom prst="rect">
            <a:avLst/>
          </a:prstGeom>
          <a:ln w="12700">
            <a:solidFill>
              <a:srgbClr val="6F79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6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Predictive Site Risk + IBM Bob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9633674-4CFE-BD33-D2C0-498878B3061B}"/>
              </a:ext>
            </a:extLst>
          </p:cNvPr>
          <p:cNvGrpSpPr/>
          <p:nvPr/>
        </p:nvGrpSpPr>
        <p:grpSpPr>
          <a:xfrm>
            <a:off x="548640" y="1855395"/>
            <a:ext cx="11063339" cy="4334293"/>
            <a:chOff x="548640" y="1687100"/>
            <a:chExt cx="11063339" cy="4334293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D57230EB-374E-D3A2-CE40-CF2194C2333E}"/>
                </a:ext>
              </a:extLst>
            </p:cNvPr>
            <p:cNvGrpSpPr/>
            <p:nvPr/>
          </p:nvGrpSpPr>
          <p:grpSpPr>
            <a:xfrm>
              <a:off x="548640" y="1695090"/>
              <a:ext cx="3368041" cy="4141379"/>
              <a:chOff x="548640" y="1536192"/>
              <a:chExt cx="6675120" cy="3758481"/>
            </a:xfrm>
          </p:grpSpPr>
          <p:sp>
            <p:nvSpPr>
              <p:cNvPr id="7" name="Shape 5"/>
              <p:cNvSpPr/>
              <p:nvPr/>
            </p:nvSpPr>
            <p:spPr>
              <a:xfrm>
                <a:off x="548640" y="1600200"/>
                <a:ext cx="384048" cy="384048"/>
              </a:xfrm>
              <a:prstGeom prst="ellipse">
                <a:avLst/>
              </a:prstGeom>
              <a:solidFill>
                <a:srgbClr val="433ABA"/>
              </a:solidFill>
              <a:ln/>
            </p:spPr>
          </p:sp>
          <p:sp>
            <p:nvSpPr>
              <p:cNvPr id="8" name="Text 6"/>
              <p:cNvSpPr/>
              <p:nvPr/>
            </p:nvSpPr>
            <p:spPr>
              <a:xfrm>
                <a:off x="548640" y="1600200"/>
                <a:ext cx="384048" cy="384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1</a:t>
                </a:r>
                <a:endParaRPr lang="en-US" sz="1300" dirty="0"/>
              </a:p>
            </p:txBody>
          </p:sp>
          <p:sp>
            <p:nvSpPr>
              <p:cNvPr id="9" name="Text 7"/>
              <p:cNvSpPr/>
              <p:nvPr/>
            </p:nvSpPr>
            <p:spPr>
              <a:xfrm>
                <a:off x="1097280" y="1536192"/>
                <a:ext cx="612648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50" b="1" dirty="0">
                    <a:solidFill>
                      <a:srgbClr val="1F164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Site S037 risk detail</a:t>
                </a:r>
                <a:endParaRPr lang="en-US" sz="1250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1092919" y="1755938"/>
                <a:ext cx="6126481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080" dirty="0">
                    <a:solidFill>
                      <a:srgbClr val="6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Current score 87/100 -&gt; level HIGH -&gt; trend WORSENING</a:t>
                </a:r>
                <a:endParaRPr lang="en-US" sz="1080" dirty="0"/>
              </a:p>
            </p:txBody>
          </p:sp>
          <p:sp>
            <p:nvSpPr>
              <p:cNvPr id="11" name="Shape 9"/>
              <p:cNvSpPr/>
              <p:nvPr/>
            </p:nvSpPr>
            <p:spPr>
              <a:xfrm>
                <a:off x="548640" y="2386584"/>
                <a:ext cx="384048" cy="384048"/>
              </a:xfrm>
              <a:prstGeom prst="ellipse">
                <a:avLst/>
              </a:prstGeom>
              <a:solidFill>
                <a:srgbClr val="433ABA"/>
              </a:solidFill>
              <a:ln/>
            </p:spPr>
          </p:sp>
          <p:sp>
            <p:nvSpPr>
              <p:cNvPr id="12" name="Text 10"/>
              <p:cNvSpPr/>
              <p:nvPr/>
            </p:nvSpPr>
            <p:spPr>
              <a:xfrm>
                <a:off x="548640" y="2386584"/>
                <a:ext cx="384048" cy="384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2</a:t>
                </a:r>
                <a:endParaRPr lang="en-US" sz="1300" dirty="0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1097280" y="2322576"/>
                <a:ext cx="612648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50" b="1" dirty="0">
                    <a:solidFill>
                      <a:srgbClr val="1F164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Leading indicators</a:t>
                </a:r>
                <a:endParaRPr lang="en-US" sz="1250" dirty="0"/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1092919" y="2564065"/>
                <a:ext cx="6126481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080" dirty="0">
                    <a:solidFill>
                      <a:srgbClr val="6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Repeated dosing deviations, increasing missed visits, data-entry delays</a:t>
                </a:r>
                <a:endParaRPr lang="en-US" sz="1080" dirty="0"/>
              </a:p>
            </p:txBody>
          </p:sp>
          <p:sp>
            <p:nvSpPr>
              <p:cNvPr id="15" name="Shape 13"/>
              <p:cNvSpPr/>
              <p:nvPr/>
            </p:nvSpPr>
            <p:spPr>
              <a:xfrm>
                <a:off x="548640" y="3172968"/>
                <a:ext cx="384048" cy="384048"/>
              </a:xfrm>
              <a:prstGeom prst="ellipse">
                <a:avLst/>
              </a:prstGeom>
              <a:solidFill>
                <a:srgbClr val="433ABA"/>
              </a:solidFill>
              <a:ln/>
            </p:spPr>
          </p:sp>
          <p:sp>
            <p:nvSpPr>
              <p:cNvPr id="16" name="Text 14"/>
              <p:cNvSpPr/>
              <p:nvPr/>
            </p:nvSpPr>
            <p:spPr>
              <a:xfrm>
                <a:off x="548640" y="3172968"/>
                <a:ext cx="384049" cy="384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3</a:t>
                </a:r>
                <a:endParaRPr lang="en-US" sz="1300" dirty="0"/>
              </a:p>
            </p:txBody>
          </p:sp>
          <p:sp>
            <p:nvSpPr>
              <p:cNvPr id="17" name="Text 15"/>
              <p:cNvSpPr/>
              <p:nvPr/>
            </p:nvSpPr>
            <p:spPr>
              <a:xfrm>
                <a:off x="1097280" y="3108960"/>
                <a:ext cx="612648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50" b="1" dirty="0">
                    <a:solidFill>
                      <a:srgbClr val="1F164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Drill into a MAJOR deviation</a:t>
                </a:r>
                <a:endParaRPr lang="en-US" sz="1250" dirty="0"/>
              </a:p>
            </p:txBody>
          </p:sp>
          <p:sp>
            <p:nvSpPr>
              <p:cNvPr id="18" name="Text 16"/>
              <p:cNvSpPr/>
              <p:nvPr/>
            </p:nvSpPr>
            <p:spPr>
              <a:xfrm>
                <a:off x="1097279" y="3282696"/>
                <a:ext cx="6126481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080" dirty="0">
                    <a:solidFill>
                      <a:srgbClr val="6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Expected dose 100 mg vs. actual 150 mg</a:t>
                </a:r>
                <a:endParaRPr lang="en-US" sz="1080" dirty="0"/>
              </a:p>
            </p:txBody>
          </p:sp>
          <p:sp>
            <p:nvSpPr>
              <p:cNvPr id="19" name="Shape 17"/>
              <p:cNvSpPr/>
              <p:nvPr/>
            </p:nvSpPr>
            <p:spPr>
              <a:xfrm>
                <a:off x="548640" y="3959352"/>
                <a:ext cx="384048" cy="384048"/>
              </a:xfrm>
              <a:prstGeom prst="ellipse">
                <a:avLst/>
              </a:prstGeom>
              <a:solidFill>
                <a:srgbClr val="433ABA"/>
              </a:solidFill>
              <a:ln/>
            </p:spPr>
          </p:sp>
          <p:sp>
            <p:nvSpPr>
              <p:cNvPr id="20" name="Text 18"/>
              <p:cNvSpPr/>
              <p:nvPr/>
            </p:nvSpPr>
            <p:spPr>
              <a:xfrm>
                <a:off x="548640" y="3959352"/>
                <a:ext cx="384048" cy="384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4</a:t>
                </a:r>
                <a:endParaRPr lang="en-US" sz="1300" dirty="0"/>
              </a:p>
            </p:txBody>
          </p:sp>
          <p:sp>
            <p:nvSpPr>
              <p:cNvPr id="21" name="Text 19"/>
              <p:cNvSpPr/>
              <p:nvPr/>
            </p:nvSpPr>
            <p:spPr>
              <a:xfrm>
                <a:off x="1097280" y="3895344"/>
                <a:ext cx="612648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50" b="1" dirty="0">
                    <a:solidFill>
                      <a:srgbClr val="1F164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Ask IBM Bob: “Why is Site S037 high risk?”</a:t>
                </a:r>
                <a:endParaRPr lang="en-US" sz="1250" dirty="0"/>
              </a:p>
            </p:txBody>
          </p:sp>
          <p:sp>
            <p:nvSpPr>
              <p:cNvPr id="22" name="Text 20"/>
              <p:cNvSpPr/>
              <p:nvPr/>
            </p:nvSpPr>
            <p:spPr>
              <a:xfrm>
                <a:off x="1097280" y="4187952"/>
                <a:ext cx="612648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080" dirty="0">
                    <a:solidFill>
                      <a:srgbClr val="6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Answered using actual database tool results, not free-form text</a:t>
                </a:r>
                <a:endParaRPr lang="en-US" sz="1080" dirty="0"/>
              </a:p>
            </p:txBody>
          </p:sp>
          <p:sp>
            <p:nvSpPr>
              <p:cNvPr id="23" name="Shape 21"/>
              <p:cNvSpPr/>
              <p:nvPr/>
            </p:nvSpPr>
            <p:spPr>
              <a:xfrm>
                <a:off x="548640" y="4745736"/>
                <a:ext cx="384048" cy="384048"/>
              </a:xfrm>
              <a:prstGeom prst="ellipse">
                <a:avLst/>
              </a:prstGeom>
              <a:solidFill>
                <a:srgbClr val="433ABA"/>
              </a:solidFill>
              <a:ln/>
            </p:spPr>
          </p:sp>
          <p:sp>
            <p:nvSpPr>
              <p:cNvPr id="24" name="Text 22"/>
              <p:cNvSpPr/>
              <p:nvPr/>
            </p:nvSpPr>
            <p:spPr>
              <a:xfrm>
                <a:off x="548640" y="4745736"/>
                <a:ext cx="384048" cy="384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5</a:t>
                </a:r>
                <a:endParaRPr lang="en-US" sz="1300" dirty="0"/>
              </a:p>
            </p:txBody>
          </p:sp>
          <p:sp>
            <p:nvSpPr>
              <p:cNvPr id="25" name="Text 23"/>
              <p:cNvSpPr/>
              <p:nvPr/>
            </p:nvSpPr>
            <p:spPr>
              <a:xfrm>
                <a:off x="1097280" y="4681728"/>
                <a:ext cx="612648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50" b="1" dirty="0">
                    <a:solidFill>
                      <a:srgbClr val="1F164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Ask Bob: “Generate a CAPA for Site S037”</a:t>
                </a:r>
                <a:endParaRPr lang="en-US" sz="1250" dirty="0"/>
              </a:p>
            </p:txBody>
          </p:sp>
          <p:sp>
            <p:nvSpPr>
              <p:cNvPr id="26" name="Text 24"/>
              <p:cNvSpPr/>
              <p:nvPr/>
            </p:nvSpPr>
            <p:spPr>
              <a:xfrm>
                <a:off x="1092919" y="4928913"/>
                <a:ext cx="6126481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080" dirty="0">
                    <a:solidFill>
                      <a:srgbClr val="6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Problem statement, root-cause hypothesis, corrective &amp; preventive actions</a:t>
                </a:r>
                <a:endParaRPr lang="en-US" sz="1080" dirty="0"/>
              </a:p>
            </p:txBody>
          </p:sp>
        </p:grpSp>
        <p:sp>
          <p:nvSpPr>
            <p:cNvPr id="31" name="Text 29"/>
            <p:cNvSpPr/>
            <p:nvPr/>
          </p:nvSpPr>
          <p:spPr>
            <a:xfrm>
              <a:off x="8206738" y="2279536"/>
              <a:ext cx="3291840" cy="868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2C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Site risk</a:t>
              </a:r>
              <a:endParaRPr lang="en-US" sz="1050" dirty="0"/>
            </a:p>
            <a:p>
              <a:pPr marL="0" indent="0">
                <a:buNone/>
              </a:pPr>
              <a:r>
                <a:rPr lang="en-US" sz="1050" dirty="0">
                  <a:solidFill>
                    <a:srgbClr val="2C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detail page</a:t>
              </a:r>
              <a:endParaRPr lang="en-US" sz="1050" dirty="0"/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677DD306-833B-6275-DDD1-A012D8FAF8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74818" y="3894649"/>
              <a:ext cx="3600000" cy="1892038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7421AE7E-1608-E6F6-7360-745451D1D6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11978" y="1687100"/>
              <a:ext cx="3600000" cy="1900027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04F55B80-F3AA-2316-B632-82D6D464A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11979" y="3894648"/>
              <a:ext cx="3600000" cy="1892037"/>
            </a:xfrm>
            <a:prstGeom prst="rect">
              <a:avLst/>
            </a:prstGeom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851C053B-5267-75CB-EFE1-2023B8F33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74818" y="1695090"/>
              <a:ext cx="3600000" cy="1892038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B62AF8E-5A67-5D56-C93F-D59031C18CAD}"/>
                </a:ext>
              </a:extLst>
            </p:cNvPr>
            <p:cNvSpPr txBox="1"/>
            <p:nvPr/>
          </p:nvSpPr>
          <p:spPr>
            <a:xfrm>
              <a:off x="7828384" y="3685592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IN" dirty="0"/>
            </a:p>
          </p:txBody>
        </p:sp>
        <p:sp>
          <p:nvSpPr>
            <p:cNvPr id="59" name="Text 19">
              <a:extLst>
                <a:ext uri="{FF2B5EF4-FFF2-40B4-BE49-F238E27FC236}">
                  <a16:creationId xmlns:a16="http://schemas.microsoft.com/office/drawing/2014/main" id="{B4446F51-C301-57CD-33B8-85E7E58A9CDA}"/>
                </a:ext>
              </a:extLst>
            </p:cNvPr>
            <p:cNvSpPr/>
            <p:nvPr/>
          </p:nvSpPr>
          <p:spPr>
            <a:xfrm>
              <a:off x="5701171" y="3583920"/>
              <a:ext cx="789657" cy="241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F16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Clinical Sites</a:t>
              </a:r>
              <a:endParaRPr lang="en-US" sz="800" dirty="0"/>
            </a:p>
          </p:txBody>
        </p:sp>
        <p:sp>
          <p:nvSpPr>
            <p:cNvPr id="61" name="Text 19">
              <a:extLst>
                <a:ext uri="{FF2B5EF4-FFF2-40B4-BE49-F238E27FC236}">
                  <a16:creationId xmlns:a16="http://schemas.microsoft.com/office/drawing/2014/main" id="{37C7BDBE-A80E-8927-487F-D18AE220C779}"/>
                </a:ext>
              </a:extLst>
            </p:cNvPr>
            <p:cNvSpPr/>
            <p:nvPr/>
          </p:nvSpPr>
          <p:spPr>
            <a:xfrm>
              <a:off x="9885782" y="3582224"/>
              <a:ext cx="789657" cy="241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F16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Deviations</a:t>
              </a:r>
              <a:endParaRPr lang="en-US" sz="800" dirty="0"/>
            </a:p>
          </p:txBody>
        </p:sp>
        <p:sp>
          <p:nvSpPr>
            <p:cNvPr id="63" name="Text 19">
              <a:extLst>
                <a:ext uri="{FF2B5EF4-FFF2-40B4-BE49-F238E27FC236}">
                  <a16:creationId xmlns:a16="http://schemas.microsoft.com/office/drawing/2014/main" id="{10AAD70C-6DB9-3E15-9B6E-4231E6DF0D27}"/>
                </a:ext>
              </a:extLst>
            </p:cNvPr>
            <p:cNvSpPr/>
            <p:nvPr/>
          </p:nvSpPr>
          <p:spPr>
            <a:xfrm>
              <a:off x="5701171" y="5780073"/>
              <a:ext cx="789657" cy="241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F16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Ask IBM Bob</a:t>
              </a:r>
              <a:endParaRPr lang="en-US" sz="800" dirty="0"/>
            </a:p>
          </p:txBody>
        </p:sp>
        <p:sp>
          <p:nvSpPr>
            <p:cNvPr id="65" name="Text 19">
              <a:extLst>
                <a:ext uri="{FF2B5EF4-FFF2-40B4-BE49-F238E27FC236}">
                  <a16:creationId xmlns:a16="http://schemas.microsoft.com/office/drawing/2014/main" id="{DD09EB1D-0D6C-B8D6-3263-026372048EF7}"/>
                </a:ext>
              </a:extLst>
            </p:cNvPr>
            <p:cNvSpPr/>
            <p:nvPr/>
          </p:nvSpPr>
          <p:spPr>
            <a:xfrm>
              <a:off x="9743074" y="5772652"/>
              <a:ext cx="1075072" cy="241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F164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CAPA Management</a:t>
              </a:r>
              <a:endParaRPr lang="en-US" sz="800" dirty="0"/>
            </a:p>
          </p:txBody>
        </p:sp>
      </p:grpSp>
      <p:sp>
        <p:nvSpPr>
          <p:cNvPr id="29" name="Text 24">
            <a:extLst>
              <a:ext uri="{FF2B5EF4-FFF2-40B4-BE49-F238E27FC236}">
                <a16:creationId xmlns:a16="http://schemas.microsoft.com/office/drawing/2014/main" id="{5C0F8A4A-C800-617A-CFE9-C542D9245E8F}"/>
              </a:ext>
            </a:extLst>
          </p:cNvPr>
          <p:cNvSpPr/>
          <p:nvPr/>
        </p:nvSpPr>
        <p:spPr>
          <a:xfrm>
            <a:off x="559617" y="1262600"/>
            <a:ext cx="971595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150" dirty="0">
                <a:solidFill>
                  <a:srgbClr val="433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Link: </a:t>
            </a:r>
            <a:r>
              <a:rPr lang="en-US" sz="1200" b="1" kern="0" spc="150" dirty="0">
                <a:solidFill>
                  <a:srgbClr val="433AB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https://drive.google.com/file/d/11EevCuju7d8nsmjDWvEXVL2--p_WmRd4/view?usp=drive_link</a:t>
            </a:r>
            <a:r>
              <a:rPr lang="en-US" sz="1200" b="1" kern="0" spc="150" dirty="0">
                <a:solidFill>
                  <a:srgbClr val="433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1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900000">
            <a:off x="10911535" y="365760"/>
            <a:ext cx="731520" cy="731520"/>
          </a:xfrm>
          <a:prstGeom prst="rect">
            <a:avLst/>
          </a:prstGeom>
          <a:ln w="1905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00000">
            <a:off x="11116361" y="570586"/>
            <a:ext cx="365760" cy="365760"/>
          </a:xfrm>
          <a:prstGeom prst="rect">
            <a:avLst/>
          </a:prstGeom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7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TECHNOLOGIES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IBM Bob Integration Boundary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module exposes 13 MCP-ready tool contracts: each with a tool name, description, input schema, output schema, and authorization requirement.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2A2266"/>
          </a:solidFill>
          <a:ln w="12700">
            <a:solidFill>
              <a:srgbClr val="6F79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get_trial_overview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210312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2A2266"/>
          </a:solidFill>
          <a:ln w="12700">
            <a:solidFill>
              <a:srgbClr val="6F79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103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list_high_risk_sites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210312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2A2266"/>
          </a:solidFill>
          <a:ln w="12700">
            <a:solidFill>
              <a:srgbClr val="6F79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103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get_site_risk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778240" y="210312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2A2266"/>
          </a:solidFill>
          <a:ln w="12700">
            <a:solidFill>
              <a:srgbClr val="6F79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0" y="2103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explain_site_risk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69748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2A2266"/>
          </a:solidFill>
          <a:ln w="12700">
            <a:solidFill>
              <a:srgbClr val="6F79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6974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list_site_deviations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91840" y="269748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2A2266"/>
          </a:solidFill>
          <a:ln w="12700">
            <a:solidFill>
              <a:srgbClr val="6F79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6974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get_deviation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35040" y="269748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2A2266"/>
          </a:solidFill>
          <a:ln w="12700">
            <a:solidFill>
              <a:srgbClr val="6F79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26974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search_protocol_rules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778240" y="269748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2A2266"/>
          </a:solidFill>
          <a:ln w="12700">
            <a:solidFill>
              <a:srgbClr val="6F79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26974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compare_patient_to_protocol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29184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2A2266"/>
          </a:solidFill>
          <a:ln w="12700">
            <a:solidFill>
              <a:srgbClr val="6F79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291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get_site_trends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91840" y="329184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2A2266"/>
          </a:solidFill>
          <a:ln w="12700">
            <a:solidFill>
              <a:srgbClr val="6F79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291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recommend_site_actions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0" y="329184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2A2266"/>
          </a:solidFill>
          <a:ln w="12700">
            <a:solidFill>
              <a:srgbClr val="6F79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3291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generate_capa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778240" y="329184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2A2266"/>
          </a:solidFill>
          <a:ln w="12700">
            <a:solidFill>
              <a:srgbClr val="6F79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9680" y="3291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get_capa_status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388620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2A2266"/>
          </a:solidFill>
          <a:ln w="12700">
            <a:solidFill>
              <a:srgbClr val="6F79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8862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generate_risk_report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4641288"/>
            <a:ext cx="11064240" cy="15087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permission inheritance: every Bob tool call runs under the logged-in user’s role; a Site Coordinator asking about a site outside their assignment is refused at the tool layer itself.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 real IBM Bob connection later: the shipped demo adapter is clearly labeled in the UI as not IBM Bob, but calls the exact same tool contracts a live IBM Bob or MCP endpoint would.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invented trial facts: every factual claim Bob makes comes from these tool results and the underlying MongoDB data.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600000">
            <a:off x="10911535" y="365760"/>
            <a:ext cx="731520" cy="731520"/>
          </a:xfrm>
          <a:prstGeom prst="rect">
            <a:avLst/>
          </a:prstGeom>
          <a:ln w="19050">
            <a:solidFill>
              <a:srgbClr val="6F79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11116361" y="570586"/>
            <a:ext cx="365760" cy="365760"/>
          </a:xfrm>
          <a:prstGeom prst="rect">
            <a:avLst/>
          </a:prstGeom>
          <a:ln w="12700">
            <a:solidFill>
              <a:srgbClr val="6F79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6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Flagged Before the Audit, Not After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33AB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16712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sites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2468880" y="150876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6459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33AB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1,128+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60320" y="216712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patients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4389120" y="150876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6459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33AB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~975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480560" y="216712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 detected</a:t>
            </a:r>
            <a:endParaRPr lang="en-US" sz="87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7 types, vs. 8 rules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6309360" y="150876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6459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33AB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87/100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0" y="216712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S037: HIGH risk,</a:t>
            </a:r>
            <a:endParaRPr lang="en-US" sz="87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WORSENING, 3 indicators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8229600" y="150876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16459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33AB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21040" y="216712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MCP-ready Bob tools,</a:t>
            </a:r>
            <a:endParaRPr lang="en-US" sz="87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role-gated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10149840" y="150876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0" y="16459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33AB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100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241280" y="216712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548640" y="32004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1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demo flow: Login through CAPA generation to audit trail and is reproducible in under 5 minutes, with zero external dependencies since MongoDB is optional.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3977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33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AT SCALE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3053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C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Onsite monitoring is consistently one of the largest cost lines in a trial’s budget, running into six or seven figures per trial.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C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guidance (ICH E6(R2)) explicitly pushes trials toward risk-based, proportionate monitoring that concentrates effort on higher-risk sites instead of spreading it evenly. A predictive, explainable site risk score is a direct enabler of that shift.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1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911535" y="365760"/>
            <a:ext cx="731520" cy="731520"/>
          </a:xfrm>
          <a:prstGeom prst="rect">
            <a:avLst/>
          </a:prstGeom>
          <a:ln w="1905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280000">
            <a:off x="11116361" y="570586"/>
            <a:ext cx="365760" cy="365760"/>
          </a:xfrm>
          <a:prstGeom prst="rect">
            <a:avLst/>
          </a:prstGeom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7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THE BUILDER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Team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737360"/>
            <a:ext cx="2606040" cy="4023360"/>
          </a:xfrm>
          <a:prstGeom prst="roundRect">
            <a:avLst>
              <a:gd name="adj" fmla="val 3158"/>
            </a:avLst>
          </a:prstGeom>
          <a:solidFill>
            <a:srgbClr val="271C5C"/>
          </a:solidFill>
          <a:ln w="12700">
            <a:solidFill>
              <a:srgbClr val="3B2F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94460" y="2103120"/>
            <a:ext cx="1005840" cy="1005840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9" name="Text 7"/>
          <p:cNvSpPr/>
          <p:nvPr/>
        </p:nvSpPr>
        <p:spPr>
          <a:xfrm>
            <a:off x="1394460" y="2103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Parita Shah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41148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coordination and overall solution architecture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56432" y="1737360"/>
            <a:ext cx="2606040" cy="4023360"/>
          </a:xfrm>
          <a:prstGeom prst="roundRect">
            <a:avLst>
              <a:gd name="adj" fmla="val 3158"/>
            </a:avLst>
          </a:prstGeom>
          <a:solidFill>
            <a:srgbClr val="271C5C"/>
          </a:solidFill>
          <a:ln w="12700">
            <a:solidFill>
              <a:srgbClr val="3B2F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6532" y="2103120"/>
            <a:ext cx="1005840" cy="1005840"/>
          </a:xfrm>
          <a:prstGeom prst="ellipse">
            <a:avLst/>
          </a:prstGeom>
          <a:solidFill>
            <a:srgbClr val="6F79E3"/>
          </a:solidFill>
          <a:ln/>
        </p:spPr>
      </p:sp>
      <p:sp>
        <p:nvSpPr>
          <p:cNvPr id="15" name="Text 13"/>
          <p:cNvSpPr/>
          <p:nvPr/>
        </p:nvSpPr>
        <p:spPr>
          <a:xfrm>
            <a:off x="4256532" y="2103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PP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93592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Pranay Pandey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593592" y="3566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Engineer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39312" y="41148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core application - backend services, deviation and risk engines, and the IBM Bob integration boundary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18504" y="1737360"/>
            <a:ext cx="2606040" cy="4023360"/>
          </a:xfrm>
          <a:prstGeom prst="roundRect">
            <a:avLst>
              <a:gd name="adj" fmla="val 3158"/>
            </a:avLst>
          </a:prstGeom>
          <a:solidFill>
            <a:srgbClr val="271C5C"/>
          </a:solidFill>
          <a:ln w="12700">
            <a:solidFill>
              <a:srgbClr val="3B2F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18604" y="2103120"/>
            <a:ext cx="1005840" cy="1005840"/>
          </a:xfrm>
          <a:prstGeom prst="ellipse">
            <a:avLst/>
          </a:prstGeom>
          <a:solidFill>
            <a:srgbClr val="130994"/>
          </a:solidFill>
          <a:ln/>
        </p:spPr>
      </p:sp>
      <p:sp>
        <p:nvSpPr>
          <p:cNvPr id="21" name="Text 19"/>
          <p:cNvSpPr/>
          <p:nvPr/>
        </p:nvSpPr>
        <p:spPr>
          <a:xfrm>
            <a:off x="7118604" y="2103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55664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Priyanshi Dalwadi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55664" y="3566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Presentation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01384" y="41148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pitch deck and project documentation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80576" y="1737360"/>
            <a:ext cx="2606040" cy="4023360"/>
          </a:xfrm>
          <a:prstGeom prst="roundRect">
            <a:avLst>
              <a:gd name="adj" fmla="val 3158"/>
            </a:avLst>
          </a:prstGeom>
          <a:solidFill>
            <a:srgbClr val="271C5C"/>
          </a:solidFill>
          <a:ln w="12700">
            <a:solidFill>
              <a:srgbClr val="3B2F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80676" y="2103120"/>
            <a:ext cx="1005840" cy="1005840"/>
          </a:xfrm>
          <a:prstGeom prst="ellipse">
            <a:avLst/>
          </a:prstGeom>
          <a:solidFill>
            <a:srgbClr val="433ABA"/>
          </a:solidFill>
          <a:ln/>
        </p:spPr>
      </p:sp>
      <p:sp>
        <p:nvSpPr>
          <p:cNvPr id="27" name="Text 25"/>
          <p:cNvSpPr/>
          <p:nvPr/>
        </p:nvSpPr>
        <p:spPr>
          <a:xfrm>
            <a:off x="9980676" y="2103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317736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Jiya Shah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317736" y="3566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QA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363456" y="41148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validated the end-to-end demo flow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1083</Words>
  <Application>Microsoft Office PowerPoint</Application>
  <PresentationFormat>Widescreen</PresentationFormat>
  <Paragraphs>170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Bookman Old Style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Priyanshi Dalwadi</cp:lastModifiedBy>
  <cp:revision>3</cp:revision>
  <dcterms:created xsi:type="dcterms:W3CDTF">2026-09-15T15:12:02Z</dcterms:created>
  <dcterms:modified xsi:type="dcterms:W3CDTF">2026-09-15T16:53:02Z</dcterms:modified>
</cp:coreProperties>
</file>